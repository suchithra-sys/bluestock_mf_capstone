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Fund Category Distribution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C0-4954-9458-7A477331C5C2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C0-4954-9458-7A477331C5C2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C0-4954-9458-7A477331C5C2}"/>
              </c:ext>
            </c:extLst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C0-4954-9458-7A477331C5C2}"/>
              </c:ext>
            </c:extLst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C0-4954-9458-7A477331C5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C0-4954-9458-7A477331C5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C0-4954-9458-7A477331C5C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C0-4954-9458-7A477331C5C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C0-4954-9458-7A477331C5C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BC0-4954-9458-7A477331C5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Equity</c:v>
                </c:pt>
                <c:pt idx="1">
                  <c:v>Debt</c:v>
                </c:pt>
                <c:pt idx="2">
                  <c:v>Hybrid</c:v>
                </c:pt>
                <c:pt idx="3">
                  <c:v>ETF/Index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24</c:v>
                </c:pt>
                <c:pt idx="2">
                  <c:v>18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C0-4954-9458-7A477331C5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Investor Age Group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1240</c:v>
                </c:pt>
                <c:pt idx="1">
                  <c:v>3180</c:v>
                </c:pt>
                <c:pt idx="2">
                  <c:v>2950</c:v>
                </c:pt>
                <c:pt idx="3">
                  <c:v>1820</c:v>
                </c:pt>
                <c:pt idx="4">
                  <c:v>810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7F-4A16-870F-AD2F604CE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Monthly SIP Inflow (₹ 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Cr)</c:v>
                </c:pt>
              </c:strCache>
            </c:strRef>
          </c:tx>
          <c:spPr>
            <a:ln w="31750" cap="flat">
              <a:solidFill>
                <a:srgbClr val="4E9AF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9AF1"/>
              </a:solidFill>
              <a:ln w="9525" cap="flat">
                <a:solidFill>
                  <a:srgbClr val="4E9AF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11517</c:v>
                </c:pt>
                <c:pt idx="1">
                  <c:v>12694</c:v>
                </c:pt>
                <c:pt idx="2">
                  <c:v>13856</c:v>
                </c:pt>
                <c:pt idx="3">
                  <c:v>15245</c:v>
                </c:pt>
                <c:pt idx="4">
                  <c:v>18838</c:v>
                </c:pt>
                <c:pt idx="5">
                  <c:v>21262</c:v>
                </c:pt>
                <c:pt idx="6">
                  <c:v>25323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6CB-4D7C-9AE4-B9D488F16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Top Funds — 5-Year CAGR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5-Year Return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55-41A1-BBE7-B2D2CB43E5D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555-41A1-BBE7-B2D2CB43E5D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555-41A1-BBE7-B2D2CB43E5D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555-41A1-BBE7-B2D2CB43E5D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555-41A1-BBE7-B2D2CB43E5D9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555-41A1-BBE7-B2D2CB43E5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Nippon Small Cap</c:v>
                </c:pt>
                <c:pt idx="1">
                  <c:v>HDFC Mid-Cap</c:v>
                </c:pt>
                <c:pt idx="2">
                  <c:v>SBI Small Cap</c:v>
                </c:pt>
                <c:pt idx="3">
                  <c:v>ICICI Mid</c:v>
                </c:pt>
                <c:pt idx="4">
                  <c:v>Axis Flexi</c:v>
                </c:pt>
                <c:pt idx="5">
                  <c:v>Nifty 50 Index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28.4</c:v>
                </c:pt>
                <c:pt idx="1">
                  <c:v>25.1</c:v>
                </c:pt>
                <c:pt idx="2">
                  <c:v>23.8</c:v>
                </c:pt>
                <c:pt idx="3">
                  <c:v>22.5</c:v>
                </c:pt>
                <c:pt idx="4">
                  <c:v>19.3</c:v>
                </c:pt>
                <c:pt idx="5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555-41A1-BBE7-B2D2CB43E5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Alpha vs Beta — Top Funds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SBI Bluechip D</c:v>
                </c:pt>
                <c:pt idx="1">
                  <c:v>HDFC Short Term</c:v>
                </c:pt>
                <c:pt idx="2">
                  <c:v>ICICI Liquid</c:v>
                </c:pt>
                <c:pt idx="3">
                  <c:v>Nippon ETF</c:v>
                </c:pt>
                <c:pt idx="4">
                  <c:v>SBI Gilt Regular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1.78</c:v>
                </c:pt>
                <c:pt idx="1">
                  <c:v>1.98</c:v>
                </c:pt>
                <c:pt idx="2">
                  <c:v>1.85</c:v>
                </c:pt>
                <c:pt idx="3">
                  <c:v>1.8</c:v>
                </c:pt>
                <c:pt idx="4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1D-45B7-BE0C-E8449A8CAB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SBI Bluechip D</c:v>
                </c:pt>
                <c:pt idx="1">
                  <c:v>HDFC Short Term</c:v>
                </c:pt>
                <c:pt idx="2">
                  <c:v>ICICI Liquid</c:v>
                </c:pt>
                <c:pt idx="3">
                  <c:v>Nippon ETF</c:v>
                </c:pt>
                <c:pt idx="4">
                  <c:v>SBI Gilt Regular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0.87</c:v>
                </c:pt>
                <c:pt idx="1">
                  <c:v>0.44</c:v>
                </c:pt>
                <c:pt idx="2">
                  <c:v>0.26</c:v>
                </c:pt>
                <c:pt idx="3">
                  <c:v>1.04</c:v>
                </c:pt>
                <c:pt idx="4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1D-45B7-BE0C-E8449A8CAB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9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team and the project scope: 7-day capstone building a full analytics pipeline for Indian mutual 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problem: 7,000+ mutual funds, fragmented data, no single platform. Our capstone solves this with a production-quality ETL + analytics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datasets sourced from AMFI, SEBI data portals, and synthetic transaction generation. Combined dataset spans 2022–2025.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fully automated: raw CSVs land in data/raw, the ETL normalises and loads to SQLite, and downstream notebooks + Power BI connect to that single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on 10,000 investor transactions reveals young working professionals (26–45) as the primary investor base. Equity dominates by count but Debt by average ticket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 trend analysis: India's monthly SIP inflows doubled in 3 years. This reflects increased financial awareness and digital adoption post-COVID.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Small-cap funds dominate 5-year CAGR, but investors need risk-adjusted context. Sharpe ratio tells a more complete story — SBI Bluechip Direct leads on risk-adjusted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High-alpha funds often have lower beta (debt/gilt funds). Equity funds have alpha close to benchmark. Investors should balance alpha generation with beta-controlled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BI dashboard has 4 pages with slicers for Category, AMC, Risk Grade, and Date Range. Each page has at least 2 interactive filters as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recommender page is the flagship feature: investor inputs their risk tolerance and time horizon, and the dashboard returns the top 3 matched funds with comparison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6 findings are directly supported by the data. Point 3 and 5 are actionable recommendations for retail investors. Point 6 covers technical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summary of all 7 deliverables completed. Invite questions on ETL design, risk metrics, or the recommender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chithra-sys/bluestock_mf_capston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C4A8C">
              <a:alpha val="40000"/>
            </a:srgbClr>
          </a:solidFill>
          <a:ln w="12700">
            <a:solidFill>
              <a:srgbClr val="2C4A8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4E9AF1">
              <a:alpha val="25000"/>
            </a:srgbClr>
          </a:solidFill>
          <a:ln w="12700">
            <a:solidFill>
              <a:srgbClr val="4E9AF1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ADCFC"/>
                </a:solidFill>
              </a:rPr>
              <a:t>BLUESTOCK FINTECH  ·  CAPSTONE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ETL Pipeline  ·  EDA  ·  Performance Metrics  ·  Interactive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286000" cy="4572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240" y="4453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BY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SUCHITHRA S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ID:BFDA76968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Suchithra.s.work@gmail.com</a:t>
            </a: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9AF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Indian retail investors lack unified tools to analyse mutual fund performance across thousands of schemes.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Data is scattered across SEBI, AMFI, and fund house portals — making comparison, risk assessment, and recommendation nearly impossible without technical expertise.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OUR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9659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Build an end-to-end analytics platform that: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Ingests 10 datasets (NAV, AUM, SIP, transactions, benchmarks)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Stores data in a normalised SQLite database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Computes CAGR, Sharpe, Beta, VaR, Max Drawdown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Surfaces insights via Power BI dashboard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Recommends funds based on investor risk profile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Fund Master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7,400+ schemes with category, AMC, risk grade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NAV History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Daily NAV time-series, 3+ years of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3931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931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AUM by Fund House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931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Monthly AUM aggregated by AMC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8523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8523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SIP Inflows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Monthly SIP inflow (₹ Crore) &amp; account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3115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3115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Category Inflows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3115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Equity / Debt / Hybrid net flow trends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Folio Count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Industry-level investor count by category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2024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99339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Scheme Performance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9339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1yr / 3yr / 5yr returns, Sharpe, Alpha, Beta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6616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3931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3931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Investor Transactions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3931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10K synthetic transactions with demographics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1208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28523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8523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8523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Portfolio Holdings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8523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Equity holdings for top schemes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5800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3115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3115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Benchmark Indices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3115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Nifty 50, Nifty 500, BSE Sensex NAV series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CSVs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&amp; Live NAV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AMFI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+ mfapi.in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91640" y="233629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901952" y="21899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84832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ETL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76272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etl_pipeline.py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clean + validate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47872" y="233629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758184" y="21899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41064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41064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SQLite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32504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bluestock_mf.db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6 normalised tables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04104" y="233629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614416" y="21899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97296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97296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Analytics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Notebooks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88736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EDA · Performance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Advanced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60336" y="233629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470648" y="21899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53528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53528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44968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4 pages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20+ visuals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Python 3.11   ·   Pandas / NumPy   ·   SQLite3   ·   Matplotlib / Seaborn   ·   Power BI Desktop   ·   mfapi.in   ·   Git + GitHub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INVESTOR &amp; FUND DEMOGRAPHICS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3840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118872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📊  Key Insight: 26–45 age cohort drives 61% of investment volume. Equity funds dominate AUM (42%), with Debt at 24%.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SIP GROWTH &amp; NAV TRENDS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3444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₹25,323 Cr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89320" y="1691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Peak SIP Inflow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(Jan 2025)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8932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89320" y="2651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3-Year SIP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Growth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15468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Cr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89320" y="3611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Active SIP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Accounts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📈  SIP inflows grew 120% from ₹11,517 Cr (Jan 2022) to ₹25,323 Cr (Jan 2025) — confirming rising retail participation in Indian equity markets.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RISK &amp; RETURN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34440"/>
            <a:ext cx="29718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07608" y="12893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Best Sharpe Ratio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07608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▲  2.41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07608" y="16642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9AF1"/>
                </a:solidFill>
              </a:rPr>
              <a:t>SBI Bluechip Direct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1984248"/>
            <a:ext cx="29718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07608" y="2039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Lowest Max Drawdown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07608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▼  -8.2%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07608" y="24140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9AF1"/>
                </a:solidFill>
              </a:rPr>
              <a:t>HDFC Short Term Debt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52160" y="2734056"/>
            <a:ext cx="29718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07608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Best VaR (95%)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07608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◆  -0.84%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007608" y="3163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9AF1"/>
                </a:solidFill>
              </a:rPr>
              <a:t>ICICI Pru Liquid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52160" y="3483864"/>
            <a:ext cx="29718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07608" y="35387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Best Alpha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07608" y="3739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★  1.98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07608" y="3913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9AF1"/>
                </a:solidFill>
              </a:rPr>
              <a:t>HDFC Short Term Debt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ALPHA, BETA &amp; VaR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188720"/>
            <a:ext cx="297180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16752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RISK METRICS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6752" y="1691640"/>
            <a:ext cx="2697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E9AF1"/>
                </a:solidFill>
              </a:rPr>
              <a:t>Value at Risk (95%)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Max daily loss at 95% confidence. Range: -0.84% (liquid) to -3.2% (small-cap).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E9AF1"/>
                </a:solidFill>
              </a:rPr>
              <a:t>Conditional VaR (CVaR)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Expected loss beyond VaR. Small-cap funds show CVaR of -4.8%.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E9AF1"/>
                </a:solidFill>
              </a:rPr>
              <a:t>Beta Insight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Debt funds (Beta &lt; 0.5) are market-neutral. Equity funds (Beta ~1.0) track Nifty closely.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OVERVIEW &amp;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Page 1: Risk Analysis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1" y="1707466"/>
            <a:ext cx="4097214" cy="2178733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28537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✓ Portfolio-wide risk overview using </a:t>
            </a:r>
            <a:r>
              <a:rPr lang="en-IN" sz="1050" dirty="0" err="1"/>
              <a:t>VaR</a:t>
            </a:r>
            <a:r>
              <a:rPr lang="en-IN" sz="1050" dirty="0"/>
              <a:t> and CVaR metrics</a:t>
            </a:r>
          </a:p>
          <a:p>
            <a:r>
              <a:rPr lang="en-IN" sz="1050" dirty="0"/>
              <a:t>✓ Fund-wise comparison of downside risk exposure</a:t>
            </a:r>
          </a:p>
          <a:p>
            <a:r>
              <a:rPr lang="en-IN" sz="1050" dirty="0"/>
              <a:t>✓ Summary of mutual funds included in the analysis</a:t>
            </a:r>
          </a:p>
          <a:p>
            <a:r>
              <a:rPr lang="en-IN" sz="1050" dirty="0"/>
              <a:t>✓ Quick insights for portfolio risk assessment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420624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984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 2: Fund Performance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4117" y="1783080"/>
            <a:ext cx="4065563" cy="1888588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[ Dashboard Visual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4117" y="4148211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 dirty="0"/>
              <a:t>✓ Average Alpha indicates positive excess returns generated by mutual fund schemes.</a:t>
            </a:r>
          </a:p>
          <a:p>
            <a:r>
              <a:rPr lang="en-IN" sz="900" dirty="0"/>
              <a:t>✓ Average Beta measures market sensitivity and helps assess fund volatility.</a:t>
            </a:r>
          </a:p>
          <a:p>
            <a:r>
              <a:rPr lang="en-IN" sz="900" dirty="0"/>
              <a:t>✓ Alpha vs Beta scatter analysis identifies funds with strong performance and controlled risk.</a:t>
            </a:r>
          </a:p>
          <a:p>
            <a:r>
              <a:rPr lang="en-IN" sz="900" dirty="0"/>
              <a:t>✓ Fund Performance Summary table enables comparison of Alpha and Beta metrics across 40 mutual fund schemes.</a:t>
            </a:r>
          </a:p>
          <a:p>
            <a:pPr marL="0" indent="0">
              <a:buNone/>
            </a:pPr>
            <a:endParaRPr lang="en-US" sz="10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E06E5A4-25C5-531C-88A7-6D8DE0142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35820"/>
            <a:ext cx="4097215" cy="217324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8BA1207-D27A-6062-3ADC-50AD30653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802" y="1764793"/>
            <a:ext cx="4026877" cy="19068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RISK &amp; RECOMMENDATION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5730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48156"/>
            <a:ext cx="42062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Page 3: Fund Recommender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3931920" cy="2224102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255125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1A1A2E"/>
              </a:solidFill>
            </a:endParaRPr>
          </a:p>
          <a:p>
            <a:r>
              <a:rPr lang="en-IN" sz="1050" dirty="0"/>
              <a:t>✓ Ranking of mutual funds based on fund scores</a:t>
            </a:r>
          </a:p>
          <a:p>
            <a:r>
              <a:rPr lang="en-IN" sz="1050" dirty="0"/>
              <a:t>✓ Identification of top recommended investment options</a:t>
            </a:r>
          </a:p>
          <a:p>
            <a:r>
              <a:rPr lang="en-IN" sz="1050" dirty="0"/>
              <a:t>✓ Comparative analysis of fund performance metrics</a:t>
            </a:r>
          </a:p>
          <a:p>
            <a:r>
              <a:rPr lang="en-IN" sz="1050" dirty="0"/>
              <a:t>✓ Supports data-driven investment decision making</a:t>
            </a:r>
          </a:p>
          <a:p>
            <a:pPr marL="0" indent="0">
              <a:buNone/>
            </a:pPr>
            <a:endParaRPr lang="en-US" sz="1050" dirty="0">
              <a:solidFill>
                <a:srgbClr val="1A1A2E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4206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984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/>
              <a:t>Page 4: </a:t>
            </a:r>
            <a:r>
              <a:rPr lang="en-IN" sz="1100" b="1" dirty="0"/>
              <a:t>Investment Insights Dashboard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4892040" y="1764792"/>
            <a:ext cx="3931920" cy="224239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19" y="4313152"/>
            <a:ext cx="50643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✓ Categorizes mutual funds into Low, Medium, and High Risk groups</a:t>
            </a:r>
          </a:p>
          <a:p>
            <a:r>
              <a:rPr lang="en-IN" sz="1050" dirty="0"/>
              <a:t>✓ Identifies the best investment opportunity based on fund score</a:t>
            </a:r>
          </a:p>
          <a:p>
            <a:r>
              <a:rPr lang="en-IN" sz="1050" dirty="0"/>
              <a:t>✓ Evaluates the relationship between risk and expected reward</a:t>
            </a:r>
          </a:p>
          <a:p>
            <a:r>
              <a:rPr lang="en-IN" sz="1050" dirty="0"/>
              <a:t>✓ Supports strategic portfolio selection using data-driven insights</a:t>
            </a:r>
          </a:p>
          <a:p>
            <a:pPr marL="0" indent="0">
              <a:buNone/>
            </a:pP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8CC8F70-80FB-B3E5-43FE-78FD8B268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5642"/>
            <a:ext cx="4051786" cy="22215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96FFF18-880C-A1EE-19EA-C673132A6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64792"/>
            <a:ext cx="3886200" cy="22423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11556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14300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SIP is the growth engine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53619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Monthly SIP inflows grew 120% in 3 years. SIP-based investors show 2.3× better cohort retention than lump-sum investors.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1556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67328" y="114300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Sharpe trumps raw return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153619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Direct plan debt funds (Sharpe 1.8–2.4) outperform small-cap funds on risk-adjusted basis despite lower absolute returns.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155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7688" y="114300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Category allocation matters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90488" y="153619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 60:30:10 (Equity:Debt:Hybrid) portfolio achieves Sharpe &gt; 1.5 with max drawdown below -12% — balanced for retail investors.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9748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0720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283464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Direct plans dominate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322783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Direct plans consistently show 0.5–1.0% higher alpha than Regular plans. Over 10 years this compounds to 8–15% additional corpus.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69748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280720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67328" y="283464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Young investors under-diversify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10128" y="322783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18–35 age group concentrates 72% of investments in equity; adding 20% debt exposure would reduce portfolio VaR by ~35%.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269748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2807208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47688" y="283464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Pipeline is production-ready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90488" y="322783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ETL runs end-to-end in &lt; 90 seconds. Live NAV auto-updates via mfapi.in. Schema handles 7,400+ schemes with no manual steps.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2C4A8C">
              <a:alpha val="35000"/>
            </a:srgbClr>
          </a:solidFill>
          <a:ln w="12700">
            <a:solidFill>
              <a:srgbClr val="2C4A8C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4E9AF1">
              <a:alpha val="20000"/>
            </a:srgbClr>
          </a:solidFill>
          <a:ln w="12700">
            <a:solidFill>
              <a:srgbClr val="4E9AF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743200" cy="4572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Bluestock MF Capstone  |  June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hlinkClick r:id="rId3"/>
              </a:rPr>
              <a:t>|https://github.com/suchithra-sys/</a:t>
            </a:r>
            <a:r>
              <a:rPr lang="en-US" sz="1300" dirty="0" err="1">
                <a:solidFill>
                  <a:srgbClr val="CADCFC"/>
                </a:solidFill>
                <a:hlinkClick r:id="rId3"/>
              </a:rPr>
              <a:t>bluestock_mf_capstone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1316</Words>
  <Application>Microsoft Office PowerPoint</Application>
  <PresentationFormat>On-screen Show (16:9)</PresentationFormat>
  <Paragraphs>194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Bluestock MF Analytics Team</dc:creator>
  <cp:lastModifiedBy>s.suchithrasrinivasan24@outlook.com</cp:lastModifiedBy>
  <cp:revision>3</cp:revision>
  <dcterms:created xsi:type="dcterms:W3CDTF">2026-06-13T06:02:43Z</dcterms:created>
  <dcterms:modified xsi:type="dcterms:W3CDTF">2026-06-14T10:40:53Z</dcterms:modified>
</cp:coreProperties>
</file>